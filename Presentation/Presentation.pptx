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Merriweather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D785F8-2871-48C2-BE7C-7F19E0DE86D2}">
  <a:tblStyle styleId="{EED785F8-2871-48C2-BE7C-7F19E0DE86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Merriweather-bold.fntdata"/><Relationship Id="rId23" Type="http://schemas.openxmlformats.org/officeDocument/2006/relationships/font" Target="fonts/Merriweath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-boldItalic.fntdata"/><Relationship Id="rId25" Type="http://schemas.openxmlformats.org/officeDocument/2006/relationships/font" Target="fonts/Merriweath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5455bca4f8100147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h5455bca4f8100147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5455bca4f8100147_8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5455bca4f8100147_8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5455bca4f8100147_1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5455bca4f8100147_1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5455bca4f8100147_13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h5455bca4f8100147_13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5455bca4f8100147_13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5455bca4f8100147_13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5455bca4f8100147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5455bca4f8100147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3d0f441069ef7b4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h3d0f441069ef7b4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3d0f441069ef7b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h3d0f441069ef7b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5455bca4f8100147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h5455bca4f8100147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5455bca4f8100147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h5455bca4f8100147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5455bca4f8100147_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h5455bca4f8100147_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jpg"/><Relationship Id="rId4" Type="http://schemas.openxmlformats.org/officeDocument/2006/relationships/image" Target="../media/image19.jpg"/><Relationship Id="rId5" Type="http://schemas.openxmlformats.org/officeDocument/2006/relationships/image" Target="../media/image22.jpg"/><Relationship Id="rId6" Type="http://schemas.openxmlformats.org/officeDocument/2006/relationships/image" Target="../media/image20.jpg"/><Relationship Id="rId7" Type="http://schemas.openxmlformats.org/officeDocument/2006/relationships/image" Target="../media/image18.jpg"/><Relationship Id="rId8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jpg"/><Relationship Id="rId4" Type="http://schemas.openxmlformats.org/officeDocument/2006/relationships/image" Target="../media/image21.jpg"/><Relationship Id="rId10" Type="http://schemas.openxmlformats.org/officeDocument/2006/relationships/image" Target="../media/image25.jpg"/><Relationship Id="rId9" Type="http://schemas.openxmlformats.org/officeDocument/2006/relationships/image" Target="../media/image26.jpg"/><Relationship Id="rId5" Type="http://schemas.openxmlformats.org/officeDocument/2006/relationships/image" Target="../media/image3.jpg"/><Relationship Id="rId6" Type="http://schemas.openxmlformats.org/officeDocument/2006/relationships/image" Target="../media/image2.jpg"/><Relationship Id="rId7" Type="http://schemas.openxmlformats.org/officeDocument/2006/relationships/image" Target="../media/image24.jpg"/><Relationship Id="rId8" Type="http://schemas.openxmlformats.org/officeDocument/2006/relationships/image" Target="../media/image1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12.png"/><Relationship Id="rId8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CPS 499/564 Project 1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Members: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Benjamin Merrell, Elijah Rose, and Ashley Blankenship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47350" y="100875"/>
            <a:ext cx="3706500" cy="5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Contributions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730400" y="167550"/>
            <a:ext cx="4166400" cy="31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Team Contribution Details</a:t>
            </a:r>
            <a:endParaRPr sz="1400" u="sng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Benjamin Merrell:</a:t>
            </a:r>
            <a:endParaRPr sz="11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"/>
              <a:buChar char="●"/>
            </a:pPr>
            <a:r>
              <a:rPr lang="en" sz="1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Completed Problem 1a and helped with 1b.</a:t>
            </a:r>
            <a:endParaRPr sz="11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"/>
              <a:buChar char="●"/>
            </a:pPr>
            <a:r>
              <a:rPr lang="en" sz="1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Wrote the report details and slides for problem 1a.</a:t>
            </a:r>
            <a:endParaRPr sz="11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"/>
              <a:buChar char="●"/>
            </a:pPr>
            <a:r>
              <a:rPr lang="en" sz="1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Wrote the Readme.txt file.</a:t>
            </a:r>
            <a:endParaRPr sz="11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Elijah Rose:</a:t>
            </a:r>
            <a:endParaRPr sz="11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"/>
              <a:buChar char="●"/>
            </a:pPr>
            <a:r>
              <a:rPr lang="en" sz="1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Completed Problem 1b and helped with 1a.</a:t>
            </a:r>
            <a:endParaRPr sz="11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"/>
              <a:buChar char="●"/>
            </a:pPr>
            <a:r>
              <a:rPr lang="en" sz="1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Wrote the report details and slides for problem 1b.</a:t>
            </a:r>
            <a:endParaRPr sz="11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"/>
              <a:buChar char="●"/>
            </a:pPr>
            <a:r>
              <a:rPr lang="en" sz="1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Compiled resulting images from problem 1 into the results folder.</a:t>
            </a:r>
            <a:endParaRPr sz="11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Ashley Blankenship</a:t>
            </a:r>
            <a:endParaRPr sz="11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"/>
              <a:buChar char="●"/>
            </a:pPr>
            <a:r>
              <a:rPr lang="en" sz="1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Completed Problem 2</a:t>
            </a:r>
            <a:endParaRPr sz="11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"/>
              <a:buChar char="●"/>
            </a:pPr>
            <a:r>
              <a:rPr lang="en" sz="1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Wrote the report details and slides for problem 2</a:t>
            </a:r>
            <a:endParaRPr sz="11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"/>
              <a:buChar char="●"/>
            </a:pPr>
            <a:r>
              <a:rPr lang="en" sz="1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Compiled the resulting images from problem 2 into the test results folder</a:t>
            </a:r>
            <a:endParaRPr/>
          </a:p>
        </p:txBody>
      </p:sp>
      <p:pic>
        <p:nvPicPr>
          <p:cNvPr id="72" name="Google Shape;72;p1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5537" y="530650"/>
            <a:ext cx="4339874" cy="3062933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/>
          <p:nvPr/>
        </p:nvSpPr>
        <p:spPr>
          <a:xfrm>
            <a:off x="5034925" y="3450700"/>
            <a:ext cx="3126900" cy="1593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74" name="Google Shape;74;p14"/>
          <p:cNvGraphicFramePr/>
          <p:nvPr/>
        </p:nvGraphicFramePr>
        <p:xfrm>
          <a:off x="5034950" y="3450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{EED785F8-2871-48C2-BE7C-7F19E0DE86D2}</a:tableStyleId>
              </a:tblPr>
              <a:tblGrid>
                <a:gridCol w="858425"/>
                <a:gridCol w="560300"/>
                <a:gridCol w="579350"/>
                <a:gridCol w="569825"/>
                <a:gridCol w="558925"/>
              </a:tblGrid>
              <a:tr h="2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Teammate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Code: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Report: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Slides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Total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</a:tr>
              <a:tr h="44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Benjamin Merrell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33%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33%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33%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33%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</a:tr>
              <a:tr h="30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Elijah Rose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33%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33%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33%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33%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</a:tr>
              <a:tr h="480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Ashley Blankenship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33%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33%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33%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33%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216475" y="310425"/>
            <a:ext cx="3706500" cy="8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Histogram Patterns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216475" y="1176625"/>
            <a:ext cx="3595200" cy="18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Unedited</a:t>
            </a:r>
            <a:r>
              <a:rPr lang="en">
                <a:solidFill>
                  <a:schemeClr val="lt1"/>
                </a:solidFill>
              </a:rPr>
              <a:t> channels tend to share the overall shape(Here, two humps with a valley)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Peak locations and heights differ slightly, but shape is </a:t>
            </a:r>
            <a:r>
              <a:rPr lang="en">
                <a:solidFill>
                  <a:schemeClr val="lt1"/>
                </a:solidFill>
              </a:rPr>
              <a:t>usually</a:t>
            </a:r>
            <a:r>
              <a:rPr lang="en">
                <a:solidFill>
                  <a:schemeClr val="lt1"/>
                </a:solidFill>
              </a:rPr>
              <a:t> consistent.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A tampered channel should be the odd one out.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" name="Google Shape;81;p15"/>
          <p:cNvSpPr txBox="1"/>
          <p:nvPr>
            <p:ph type="title"/>
          </p:nvPr>
        </p:nvSpPr>
        <p:spPr>
          <a:xfrm>
            <a:off x="164525" y="0"/>
            <a:ext cx="4152300" cy="5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Problem 1a. Detecting Manipulated Channel</a:t>
            </a:r>
            <a:endParaRPr sz="1400"/>
          </a:p>
        </p:txBody>
      </p:sp>
      <p:pic>
        <p:nvPicPr>
          <p:cNvPr id="82" name="Google Shape;82;p15" title="Figure_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0825" y="12747"/>
            <a:ext cx="2733174" cy="1698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 title="Figure_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0825" y="1723137"/>
            <a:ext cx="2733176" cy="16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 title="Figure_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0825" y="3417691"/>
            <a:ext cx="2733176" cy="173854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/>
        </p:nvSpPr>
        <p:spPr>
          <a:xfrm>
            <a:off x="6410837" y="-11012"/>
            <a:ext cx="18090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7350" lIns="87350" spcFirstLastPara="1" rIns="87350" wrap="square" tIns="8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2">
                <a:latin typeface="Roboto"/>
                <a:ea typeface="Roboto"/>
                <a:cs typeface="Roboto"/>
                <a:sym typeface="Roboto"/>
              </a:rPr>
              <a:t>Unedited Image</a:t>
            </a:r>
            <a:endParaRPr b="1" sz="1242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6565419" y="3388"/>
            <a:ext cx="1134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82575" lIns="82575" spcFirstLastPara="1" rIns="82575" wrap="square" tIns="8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4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Red Channel</a:t>
            </a:r>
            <a:endParaRPr sz="1174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6569483" y="1723113"/>
            <a:ext cx="11262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81975" lIns="81975" spcFirstLastPara="1" rIns="81975" wrap="square" tIns="81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5">
                <a:solidFill>
                  <a:srgbClr val="00FF00"/>
                </a:solidFill>
                <a:latin typeface="Roboto"/>
                <a:ea typeface="Roboto"/>
                <a:cs typeface="Roboto"/>
                <a:sym typeface="Roboto"/>
              </a:rPr>
              <a:t>Green Channel</a:t>
            </a:r>
            <a:endParaRPr sz="1165">
              <a:solidFill>
                <a:srgbClr val="00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6573368" y="3421065"/>
            <a:ext cx="11184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00" lIns="81400" spcFirstLastPara="1" rIns="81400" wrap="square" tIns="81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7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Blue Channel</a:t>
            </a:r>
            <a:endParaRPr sz="1157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5"/>
          <p:cNvSpPr txBox="1"/>
          <p:nvPr>
            <p:ph type="title"/>
          </p:nvPr>
        </p:nvSpPr>
        <p:spPr>
          <a:xfrm>
            <a:off x="164525" y="3266450"/>
            <a:ext cx="1584300" cy="5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Shape test:</a:t>
            </a:r>
            <a:endParaRPr sz="2000"/>
          </a:p>
        </p:txBody>
      </p:sp>
      <p:sp>
        <p:nvSpPr>
          <p:cNvPr id="90" name="Google Shape;90;p15"/>
          <p:cNvSpPr txBox="1"/>
          <p:nvPr/>
        </p:nvSpPr>
        <p:spPr>
          <a:xfrm>
            <a:off x="1000125" y="3957400"/>
            <a:ext cx="3200400" cy="13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For each pair of channels, sum the absolute histogram differences and divide by 2 (0 = identical, 1 = no overlap). 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4392925" y="127625"/>
            <a:ext cx="1848000" cy="22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Tests used to calculate confidence score: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Histogram Shape Test</a:t>
            </a:r>
            <a:r>
              <a:rPr lang="en" sz="1300">
                <a:latin typeface="Roboto"/>
                <a:ea typeface="Roboto"/>
                <a:cs typeface="Roboto"/>
                <a:sym typeface="Roboto"/>
              </a:rPr>
              <a:t>(⅓ of final score)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Histogram peak Test(⅓ of final score)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Noise Estimation</a:t>
            </a:r>
            <a:r>
              <a:rPr lang="en" sz="1300">
                <a:latin typeface="Roboto"/>
                <a:ea typeface="Roboto"/>
                <a:cs typeface="Roboto"/>
                <a:sym typeface="Roboto"/>
              </a:rPr>
              <a:t>(⅓ of final score)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6" title="Figure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2800" y="254700"/>
            <a:ext cx="2936489" cy="193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 title="Figure_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3625" y="2900238"/>
            <a:ext cx="2914857" cy="1925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/>
        </p:nvSpPr>
        <p:spPr>
          <a:xfrm>
            <a:off x="6337325" y="275925"/>
            <a:ext cx="1256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Red Channel</a:t>
            </a:r>
            <a:endParaRPr sz="13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471496" y="421525"/>
            <a:ext cx="2277300" cy="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5725" lIns="165725" spcFirstLastPara="1" rIns="165725" wrap="square" tIns="16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6">
                <a:solidFill>
                  <a:srgbClr val="00FF00"/>
                </a:solidFill>
                <a:latin typeface="Roboto"/>
                <a:ea typeface="Roboto"/>
                <a:cs typeface="Roboto"/>
                <a:sym typeface="Roboto"/>
              </a:rPr>
              <a:t>Green Channel</a:t>
            </a:r>
            <a:endParaRPr sz="2356">
              <a:solidFill>
                <a:srgbClr val="00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6345025" y="2914350"/>
            <a:ext cx="1256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Blue Channel</a:t>
            </a:r>
            <a:endParaRPr sz="13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50575" y="64850"/>
            <a:ext cx="5333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Green Channel</a:t>
            </a: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 Manipulated Image(image 3 of RGB Dataset):</a:t>
            </a:r>
            <a:endParaRPr b="1"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" name="Google Shape;102;p16" title="Figure_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041" y="435890"/>
            <a:ext cx="5589075" cy="340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/>
        </p:nvSpPr>
        <p:spPr>
          <a:xfrm>
            <a:off x="325215" y="421525"/>
            <a:ext cx="2277300" cy="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5725" lIns="165725" spcFirstLastPara="1" rIns="165725" wrap="square" tIns="16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6">
                <a:solidFill>
                  <a:srgbClr val="00FF00"/>
                </a:solidFill>
                <a:latin typeface="Roboto"/>
                <a:ea typeface="Roboto"/>
                <a:cs typeface="Roboto"/>
                <a:sym typeface="Roboto"/>
              </a:rPr>
              <a:t>Green Channel</a:t>
            </a:r>
            <a:endParaRPr sz="2356">
              <a:solidFill>
                <a:srgbClr val="00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173350" y="4008125"/>
            <a:ext cx="5277000" cy="9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Green’s histogram no longer resembles red and blue so it’s average distance is high.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Green channel is also scaled up to see all data which is why it looks more flat than other 2 channels.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6"/>
          <p:cNvSpPr/>
          <p:nvPr/>
        </p:nvSpPr>
        <p:spPr>
          <a:xfrm rot="-1123077">
            <a:off x="3381055" y="605963"/>
            <a:ext cx="2324018" cy="819387"/>
          </a:xfrm>
          <a:prstGeom prst="rightArrow">
            <a:avLst>
              <a:gd fmla="val 34896" name="adj1"/>
              <a:gd fmla="val 98819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highlight>
                <a:srgbClr val="FF00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1180075" y="1847138"/>
            <a:ext cx="2277300" cy="8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histogram has an unusually high peak compared to the rest of the graph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" name="Google Shape;107;p16"/>
          <p:cNvPicPr preferRelativeResize="0"/>
          <p:nvPr/>
        </p:nvPicPr>
        <p:blipFill rotWithShape="1">
          <a:blip r:embed="rId6">
            <a:alphaModFix/>
          </a:blip>
          <a:srcRect b="50015" l="0" r="0" t="0"/>
          <a:stretch/>
        </p:blipFill>
        <p:spPr>
          <a:xfrm>
            <a:off x="3889075" y="1560744"/>
            <a:ext cx="1326088" cy="1420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311725" y="500925"/>
            <a:ext cx="3706500" cy="8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Peak</a:t>
            </a:r>
            <a:r>
              <a:rPr lang="en"/>
              <a:t> test: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216475" y="1231425"/>
            <a:ext cx="3595200" cy="3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Brightness and contrast edits clip pixels to 0 or 255, piling them into one huge bin.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Score = pixel count at the mode divided by the average pixel count of the next 19 highest peaks.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A larger ratio means that channel is more likely tampered with.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Scores are normalized so R, G, and B sum to 1.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>
            <a:off x="121900" y="7607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Problem 1a. Detecting Manipulated Channel</a:t>
            </a:r>
            <a:endParaRPr sz="1400"/>
          </a:p>
        </p:txBody>
      </p:sp>
      <p:sp>
        <p:nvSpPr>
          <p:cNvPr id="115" name="Google Shape;115;p17"/>
          <p:cNvSpPr txBox="1"/>
          <p:nvPr>
            <p:ph type="title"/>
          </p:nvPr>
        </p:nvSpPr>
        <p:spPr>
          <a:xfrm>
            <a:off x="4871200" y="424725"/>
            <a:ext cx="3706500" cy="8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Noise Estimation: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4871200" y="1307625"/>
            <a:ext cx="3595200" cy="3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Blur each channel with a gaussian filter and subtract it from the original.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The standard deviation of what’s left is the channel’s noise score.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Unedited Channels should have similar noise levels.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Had little effect on this dataset, since the images weren’t very noisy.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/>
          <p:nvPr/>
        </p:nvSpPr>
        <p:spPr>
          <a:xfrm>
            <a:off x="859150" y="775325"/>
            <a:ext cx="6858000" cy="209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18"/>
          <p:cNvSpPr txBox="1"/>
          <p:nvPr>
            <p:ph type="title"/>
          </p:nvPr>
        </p:nvSpPr>
        <p:spPr>
          <a:xfrm>
            <a:off x="92625" y="44425"/>
            <a:ext cx="8520600" cy="6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Detection Results:</a:t>
            </a:r>
            <a:endParaRPr sz="2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23" name="Google Shape;123;p18"/>
          <p:cNvGraphicFramePr/>
          <p:nvPr/>
        </p:nvGraphicFramePr>
        <p:xfrm>
          <a:off x="866775" y="7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{EED785F8-2871-48C2-BE7C-7F19E0DE86D2}</a:tableStyleId>
              </a:tblPr>
              <a:tblGrid>
                <a:gridCol w="838200"/>
                <a:gridCol w="571500"/>
                <a:gridCol w="581025"/>
                <a:gridCol w="600075"/>
                <a:gridCol w="581025"/>
                <a:gridCol w="590550"/>
                <a:gridCol w="590550"/>
                <a:gridCol w="647700"/>
                <a:gridCol w="590550"/>
                <a:gridCol w="581025"/>
                <a:gridCol w="66675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IMG 1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IMG 2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IMG 3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IMG 4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IMG 5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IMG 6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IMG 7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IMG 8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IMG 9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IMG 10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R Score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40.11%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23.15%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31.89%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25.42%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23.58%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31.90%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54.82%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23.00%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55.87%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39.82%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G Score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30.54%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51.15%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40.14%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51.50%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54.89%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31.25%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23.18%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53.19%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22.33%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29.39%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B Score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29.35%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25.70%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27.97%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23.08%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21.52%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36.84%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22.00%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23.80%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21.80%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30.79%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Tampered Channel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R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G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G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G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G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B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R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G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R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R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Confidence score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40.11%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51.15%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40.14%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51.50%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54.89%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36.84%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54.82%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53.19%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55.87%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"/>
                          <a:ea typeface="Times"/>
                          <a:cs typeface="Times"/>
                          <a:sym typeface="Times"/>
                        </a:rPr>
                        <a:t>39.82%</a:t>
                      </a:r>
                      <a:endParaRPr sz="1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sp>
        <p:nvSpPr>
          <p:cNvPr id="124" name="Google Shape;124;p18"/>
          <p:cNvSpPr txBox="1"/>
          <p:nvPr/>
        </p:nvSpPr>
        <p:spPr>
          <a:xfrm>
            <a:off x="640075" y="3362400"/>
            <a:ext cx="3771900" cy="17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10/10 channels correctly identified.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Confidence is each channel's share of the total score (R + G + B = 100%). An even split would be about 33% each, so higher means the channel stands out more.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Lowest scores (about 37-40%) came from inverted channels (images 1, 6, 10) and a right shift (image 3).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801900" y="2977625"/>
            <a:ext cx="3236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Analysis:</a:t>
            </a:r>
            <a:endParaRPr b="1"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4629150" y="3362400"/>
            <a:ext cx="3771900" cy="17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Add a test that detects inversion better.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Weight each test by how informative it is. For example, a test whose scores are all 33% should have little to no weight in the final confidence scores.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4811925" y="2977625"/>
            <a:ext cx="3236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Ways it could be improved</a:t>
            </a: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311725" y="500925"/>
            <a:ext cx="3127500" cy="6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1b</a:t>
            </a:r>
            <a:endParaRPr/>
          </a:p>
        </p:txBody>
      </p:sp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154025" y="1193975"/>
            <a:ext cx="3571800" cy="3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Inter-Channel Difference Filtering</a:t>
            </a:r>
            <a:endParaRPr sz="15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Difference maps are computed between the manipulated channel and each reference channel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Gaussian filter is applied to smooth out noise from both difference maps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Add the smoothed differences back to the reference channels to get p</a:t>
            </a:r>
            <a:r>
              <a:rPr lang="en">
                <a:solidFill>
                  <a:schemeClr val="lt1"/>
                </a:solidFill>
              </a:rPr>
              <a:t>rimary estimates for the restored channel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Final output is blended with the reference channels to produce a distribution close to the good channels.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4040225" y="870125"/>
            <a:ext cx="4781700" cy="39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"/>
                <a:ea typeface="Times"/>
                <a:cs typeface="Times"/>
                <a:sym typeface="Times"/>
              </a:rPr>
              <a:t>d</a:t>
            </a:r>
            <a:r>
              <a:rPr b="1" baseline="-25000" lang="en">
                <a:latin typeface="Times"/>
                <a:ea typeface="Times"/>
                <a:cs typeface="Times"/>
                <a:sym typeface="Times"/>
              </a:rPr>
              <a:t>1</a:t>
            </a:r>
            <a:r>
              <a:rPr b="1" lang="en">
                <a:latin typeface="Times"/>
                <a:ea typeface="Times"/>
                <a:cs typeface="Times"/>
                <a:sym typeface="Times"/>
              </a:rPr>
              <a:t> = manipulated - reference</a:t>
            </a:r>
            <a:r>
              <a:rPr b="1" baseline="-25000" lang="en">
                <a:latin typeface="Times"/>
                <a:ea typeface="Times"/>
                <a:cs typeface="Times"/>
                <a:sym typeface="Times"/>
              </a:rPr>
              <a:t>1</a:t>
            </a:r>
            <a:endParaRPr b="1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"/>
                <a:ea typeface="Times"/>
                <a:cs typeface="Times"/>
                <a:sym typeface="Times"/>
              </a:rPr>
              <a:t>d</a:t>
            </a:r>
            <a:r>
              <a:rPr b="1" baseline="-25000" lang="en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="1" lang="en">
                <a:latin typeface="Times"/>
                <a:ea typeface="Times"/>
                <a:cs typeface="Times"/>
                <a:sym typeface="Times"/>
              </a:rPr>
              <a:t> = manipulated - reference</a:t>
            </a:r>
            <a:r>
              <a:rPr b="1" baseline="-25000" lang="en">
                <a:latin typeface="Times"/>
                <a:ea typeface="Times"/>
                <a:cs typeface="Times"/>
                <a:sym typeface="Times"/>
              </a:rPr>
              <a:t>2</a:t>
            </a:r>
            <a:endParaRPr b="1" baseline="-25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"/>
                <a:ea typeface="Times"/>
                <a:cs typeface="Times"/>
                <a:sym typeface="Times"/>
              </a:rPr>
              <a:t>d</a:t>
            </a:r>
            <a:r>
              <a:rPr b="1" baseline="-25000" lang="en">
                <a:latin typeface="Times"/>
                <a:ea typeface="Times"/>
                <a:cs typeface="Times"/>
                <a:sym typeface="Times"/>
              </a:rPr>
              <a:t>1,smooth</a:t>
            </a:r>
            <a:r>
              <a:rPr b="1" lang="en">
                <a:latin typeface="Times"/>
                <a:ea typeface="Times"/>
                <a:cs typeface="Times"/>
                <a:sym typeface="Times"/>
              </a:rPr>
              <a:t> = gauss(d</a:t>
            </a:r>
            <a:r>
              <a:rPr b="1" baseline="-25000" lang="en">
                <a:latin typeface="Times"/>
                <a:ea typeface="Times"/>
                <a:cs typeface="Times"/>
                <a:sym typeface="Times"/>
              </a:rPr>
              <a:t>1</a:t>
            </a:r>
            <a:r>
              <a:rPr b="1" lang="en">
                <a:latin typeface="Times"/>
                <a:ea typeface="Times"/>
                <a:cs typeface="Times"/>
                <a:sym typeface="Times"/>
              </a:rPr>
              <a:t>)</a:t>
            </a:r>
            <a:endParaRPr b="1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"/>
                <a:ea typeface="Times"/>
                <a:cs typeface="Times"/>
                <a:sym typeface="Times"/>
              </a:rPr>
              <a:t>d</a:t>
            </a:r>
            <a:r>
              <a:rPr b="1" baseline="-25000" lang="en">
                <a:latin typeface="Times"/>
                <a:ea typeface="Times"/>
                <a:cs typeface="Times"/>
                <a:sym typeface="Times"/>
              </a:rPr>
              <a:t>2,smooth</a:t>
            </a:r>
            <a:r>
              <a:rPr b="1" lang="en">
                <a:latin typeface="Times"/>
                <a:ea typeface="Times"/>
                <a:cs typeface="Times"/>
                <a:sym typeface="Times"/>
              </a:rPr>
              <a:t> = gauss(d</a:t>
            </a:r>
            <a:r>
              <a:rPr b="1" baseline="-25000" lang="en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="1" lang="en">
                <a:latin typeface="Times"/>
                <a:ea typeface="Times"/>
                <a:cs typeface="Times"/>
                <a:sym typeface="Times"/>
              </a:rPr>
              <a:t>)</a:t>
            </a:r>
            <a:endParaRPr b="1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"/>
                <a:ea typeface="Times"/>
                <a:cs typeface="Times"/>
                <a:sym typeface="Times"/>
              </a:rPr>
              <a:t>sol</a:t>
            </a:r>
            <a:r>
              <a:rPr b="1" baseline="-25000" lang="en">
                <a:latin typeface="Times"/>
                <a:ea typeface="Times"/>
                <a:cs typeface="Times"/>
                <a:sym typeface="Times"/>
              </a:rPr>
              <a:t>1</a:t>
            </a:r>
            <a:r>
              <a:rPr b="1" lang="en">
                <a:latin typeface="Times"/>
                <a:ea typeface="Times"/>
                <a:cs typeface="Times"/>
                <a:sym typeface="Times"/>
              </a:rPr>
              <a:t> = d</a:t>
            </a:r>
            <a:r>
              <a:rPr b="1" baseline="-25000" lang="en">
                <a:latin typeface="Times"/>
                <a:ea typeface="Times"/>
                <a:cs typeface="Times"/>
                <a:sym typeface="Times"/>
              </a:rPr>
              <a:t>1,smooth</a:t>
            </a:r>
            <a:r>
              <a:rPr b="1" lang="en">
                <a:latin typeface="Times"/>
                <a:ea typeface="Times"/>
                <a:cs typeface="Times"/>
                <a:sym typeface="Times"/>
              </a:rPr>
              <a:t> + reference</a:t>
            </a:r>
            <a:r>
              <a:rPr b="1" baseline="-25000" lang="en">
                <a:latin typeface="Times"/>
                <a:ea typeface="Times"/>
                <a:cs typeface="Times"/>
                <a:sym typeface="Times"/>
              </a:rPr>
              <a:t>1</a:t>
            </a:r>
            <a:endParaRPr b="1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"/>
                <a:ea typeface="Times"/>
                <a:cs typeface="Times"/>
                <a:sym typeface="Times"/>
              </a:rPr>
              <a:t>sol</a:t>
            </a:r>
            <a:r>
              <a:rPr b="1" baseline="-25000" lang="en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="1" lang="en">
                <a:latin typeface="Times"/>
                <a:ea typeface="Times"/>
                <a:cs typeface="Times"/>
                <a:sym typeface="Times"/>
              </a:rPr>
              <a:t> = d</a:t>
            </a:r>
            <a:r>
              <a:rPr b="1" baseline="-25000" lang="en">
                <a:latin typeface="Times"/>
                <a:ea typeface="Times"/>
                <a:cs typeface="Times"/>
                <a:sym typeface="Times"/>
              </a:rPr>
              <a:t>2,smooth</a:t>
            </a:r>
            <a:r>
              <a:rPr b="1" lang="en">
                <a:latin typeface="Times"/>
                <a:ea typeface="Times"/>
                <a:cs typeface="Times"/>
                <a:sym typeface="Times"/>
              </a:rPr>
              <a:t> + reference</a:t>
            </a:r>
            <a:r>
              <a:rPr b="1" baseline="-25000" lang="en">
                <a:latin typeface="Times"/>
                <a:ea typeface="Times"/>
                <a:cs typeface="Times"/>
                <a:sym typeface="Times"/>
              </a:rPr>
              <a:t>2</a:t>
            </a:r>
            <a:endParaRPr b="1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"/>
                <a:ea typeface="Times"/>
                <a:cs typeface="Times"/>
                <a:sym typeface="Times"/>
              </a:rPr>
              <a:t>r</a:t>
            </a:r>
            <a:r>
              <a:rPr b="1" lang="en">
                <a:latin typeface="Times"/>
                <a:ea typeface="Times"/>
                <a:cs typeface="Times"/>
                <a:sym typeface="Times"/>
              </a:rPr>
              <a:t>estored = (⅙)sol</a:t>
            </a:r>
            <a:r>
              <a:rPr b="1" baseline="-25000" lang="en">
                <a:latin typeface="Times"/>
                <a:ea typeface="Times"/>
                <a:cs typeface="Times"/>
                <a:sym typeface="Times"/>
              </a:rPr>
              <a:t>1</a:t>
            </a:r>
            <a:r>
              <a:rPr b="1" lang="en">
                <a:latin typeface="Times"/>
                <a:ea typeface="Times"/>
                <a:cs typeface="Times"/>
                <a:sym typeface="Times"/>
              </a:rPr>
              <a:t> + (⅙)sol</a:t>
            </a:r>
            <a:r>
              <a:rPr b="1" baseline="-25000" lang="en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="1" lang="en">
                <a:latin typeface="Times"/>
                <a:ea typeface="Times"/>
                <a:cs typeface="Times"/>
                <a:sym typeface="Times"/>
              </a:rPr>
              <a:t> + (⅓)reference</a:t>
            </a:r>
            <a:r>
              <a:rPr b="1" baseline="-25000" lang="en">
                <a:latin typeface="Times"/>
                <a:ea typeface="Times"/>
                <a:cs typeface="Times"/>
                <a:sym typeface="Times"/>
              </a:rPr>
              <a:t>1</a:t>
            </a:r>
            <a:r>
              <a:rPr b="1" lang="en">
                <a:latin typeface="Times"/>
                <a:ea typeface="Times"/>
                <a:cs typeface="Times"/>
                <a:sym typeface="Times"/>
              </a:rPr>
              <a:t> + (⅓)reference</a:t>
            </a:r>
            <a:r>
              <a:rPr b="1" baseline="-25000" lang="en">
                <a:latin typeface="Times"/>
                <a:ea typeface="Times"/>
                <a:cs typeface="Times"/>
                <a:sym typeface="Times"/>
              </a:rPr>
              <a:t>2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6554825" y="1022525"/>
            <a:ext cx="1428600" cy="438300"/>
          </a:xfrm>
          <a:prstGeom prst="rect">
            <a:avLst/>
          </a:prstGeom>
          <a:noFill/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Difference maps</a:t>
            </a:r>
            <a:endParaRPr sz="13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5802350" y="1794050"/>
            <a:ext cx="1724100" cy="438300"/>
          </a:xfrm>
          <a:prstGeom prst="rect">
            <a:avLst/>
          </a:prstGeom>
          <a:noFill/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Smoothing the maps</a:t>
            </a:r>
            <a:endParaRPr sz="13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6164300" y="2460800"/>
            <a:ext cx="2562000" cy="561900"/>
          </a:xfrm>
          <a:prstGeom prst="rect">
            <a:avLst/>
          </a:prstGeom>
          <a:noFill/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Adding smoothed maps back to reference channels</a:t>
            </a:r>
            <a:endParaRPr sz="13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4297400" y="3537125"/>
            <a:ext cx="2667000" cy="561900"/>
          </a:xfrm>
          <a:prstGeom prst="rect">
            <a:avLst/>
          </a:prstGeom>
          <a:noFill/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Final result is a weighted average with the reference channels</a:t>
            </a:r>
            <a:endParaRPr sz="13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title"/>
          </p:nvPr>
        </p:nvSpPr>
        <p:spPr>
          <a:xfrm>
            <a:off x="311725" y="500925"/>
            <a:ext cx="3127500" cy="6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1b</a:t>
            </a:r>
            <a:endParaRPr/>
          </a:p>
        </p:txBody>
      </p:sp>
      <p:sp>
        <p:nvSpPr>
          <p:cNvPr id="144" name="Google Shape;144;p20"/>
          <p:cNvSpPr txBox="1"/>
          <p:nvPr>
            <p:ph idx="1" type="body"/>
          </p:nvPr>
        </p:nvSpPr>
        <p:spPr>
          <a:xfrm>
            <a:off x="154025" y="1193975"/>
            <a:ext cx="3188400" cy="3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Channel Inversion Detection</a:t>
            </a:r>
            <a:endParaRPr sz="1500">
              <a:solidFill>
                <a:schemeClr val="lt1"/>
              </a:solidFill>
            </a:endParaRPr>
          </a:p>
          <a:p>
            <a:pPr indent="-128270" lvl="0" marL="27432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If a channel has been inverted, difference smoothing is ineffective</a:t>
            </a:r>
            <a:endParaRPr>
              <a:solidFill>
                <a:schemeClr val="lt1"/>
              </a:solidFill>
            </a:endParaRPr>
          </a:p>
          <a:p>
            <a:pPr indent="-128270" lvl="0" marL="27432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Dynamic thresholds are calculated using </a:t>
            </a:r>
            <a:r>
              <a:rPr i="1" lang="en">
                <a:solidFill>
                  <a:schemeClr val="lt1"/>
                </a:solidFill>
              </a:rPr>
              <a:t>μ</a:t>
            </a:r>
            <a:r>
              <a:rPr lang="en">
                <a:solidFill>
                  <a:schemeClr val="lt1"/>
                </a:solidFill>
              </a:rPr>
              <a:t> and </a:t>
            </a:r>
            <a:r>
              <a:rPr i="1" lang="en">
                <a:solidFill>
                  <a:schemeClr val="lt1"/>
                </a:solidFill>
              </a:rPr>
              <a:t>σ</a:t>
            </a:r>
            <a:r>
              <a:rPr lang="en">
                <a:solidFill>
                  <a:schemeClr val="lt1"/>
                </a:solidFill>
              </a:rPr>
              <a:t> of the reference channels to make highlight and shadow masks</a:t>
            </a:r>
            <a:endParaRPr>
              <a:solidFill>
                <a:schemeClr val="lt1"/>
              </a:solidFill>
            </a:endParaRPr>
          </a:p>
          <a:p>
            <a:pPr indent="-128270" lvl="0" marL="27432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Corresponding masks are made for the manipulated channel using </a:t>
            </a:r>
            <a:r>
              <a:rPr i="1" lang="en">
                <a:solidFill>
                  <a:schemeClr val="lt1"/>
                </a:solidFill>
              </a:rPr>
              <a:t>μ</a:t>
            </a:r>
            <a:r>
              <a:rPr baseline="-25000" i="1" lang="en">
                <a:solidFill>
                  <a:schemeClr val="lt1"/>
                </a:solidFill>
              </a:rPr>
              <a:t>bad</a:t>
            </a:r>
            <a:r>
              <a:rPr lang="en">
                <a:solidFill>
                  <a:schemeClr val="lt1"/>
                </a:solidFill>
              </a:rPr>
              <a:t> and </a:t>
            </a:r>
            <a:r>
              <a:rPr i="1" lang="en">
                <a:solidFill>
                  <a:schemeClr val="lt1"/>
                </a:solidFill>
              </a:rPr>
              <a:t>σ</a:t>
            </a:r>
            <a:r>
              <a:rPr baseline="-25000" i="1" lang="en">
                <a:solidFill>
                  <a:schemeClr val="lt1"/>
                </a:solidFill>
              </a:rPr>
              <a:t>bad</a:t>
            </a:r>
            <a:endParaRPr>
              <a:solidFill>
                <a:schemeClr val="lt1"/>
              </a:solidFill>
            </a:endParaRPr>
          </a:p>
          <a:p>
            <a:pPr indent="-128270" lvl="0" marL="274320" rtl="0" algn="l"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Flags inverted channels when dark areas in the good channels match bright areas in manipulated channels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5" name="Google Shape;14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9450" y="3159652"/>
            <a:ext cx="2250811" cy="146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9450" y="120978"/>
            <a:ext cx="2266591" cy="1511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06072" y="120978"/>
            <a:ext cx="2266591" cy="1511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9450" y="1632043"/>
            <a:ext cx="2266591" cy="1511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06072" y="1632043"/>
            <a:ext cx="2266591" cy="1511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82875" y="3143377"/>
            <a:ext cx="2266600" cy="151105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0"/>
          <p:cNvSpPr txBox="1"/>
          <p:nvPr/>
        </p:nvSpPr>
        <p:spPr>
          <a:xfrm>
            <a:off x="3170602" y="3178702"/>
            <a:ext cx="1505100" cy="485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Manipulated Channel &amp; Corrected Channel</a:t>
            </a:r>
            <a:endParaRPr sz="11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3395500" y="189128"/>
            <a:ext cx="1029000" cy="485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Reference Masks</a:t>
            </a:r>
            <a:endParaRPr sz="11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3214625" y="1504978"/>
            <a:ext cx="1209900" cy="485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Manipulated Channel Masks</a:t>
            </a:r>
            <a:endParaRPr sz="11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5102930" y="4625025"/>
            <a:ext cx="2757300" cy="485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Once detected, simply flipping the values back restores the manipulated channel</a:t>
            </a:r>
            <a:endParaRPr sz="11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00" y="1419225"/>
            <a:ext cx="2084394" cy="1389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2345" y="1419225"/>
            <a:ext cx="2084394" cy="1389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8117" y="1419225"/>
            <a:ext cx="2084394" cy="1389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08506" y="1424653"/>
            <a:ext cx="2084394" cy="1378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1094" y="3272551"/>
            <a:ext cx="2084394" cy="1357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22353" y="3256266"/>
            <a:ext cx="2084394" cy="138959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Restoration Results</a:t>
            </a:r>
            <a:endParaRPr/>
          </a:p>
        </p:txBody>
      </p:sp>
      <p:sp>
        <p:nvSpPr>
          <p:cNvPr id="166" name="Google Shape;166;p21"/>
          <p:cNvSpPr txBox="1"/>
          <p:nvPr/>
        </p:nvSpPr>
        <p:spPr>
          <a:xfrm>
            <a:off x="535025" y="2808825"/>
            <a:ext cx="3629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mes"/>
                <a:ea typeface="Times"/>
                <a:cs typeface="Times"/>
                <a:sym typeface="Times"/>
              </a:rPr>
              <a:t>Manipulated green channel of image 4, corrected channel</a:t>
            </a:r>
            <a:endParaRPr sz="1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442426" y="4662150"/>
            <a:ext cx="36291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Manipulated (inverted) blue channel of image 6, corrected channel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5173125" y="2731238"/>
            <a:ext cx="33564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mes"/>
                <a:ea typeface="Times"/>
                <a:cs typeface="Times"/>
                <a:sym typeface="Times"/>
              </a:rPr>
              <a:t>Image 1 constructed with manipulated (inverted) red channel, construction with corrected channel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21" title="start_image_3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47889" y="3256125"/>
            <a:ext cx="2084833" cy="1389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1" title="result_image_3.jp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908283" y="3256138"/>
            <a:ext cx="2084833" cy="138988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/>
          <p:nvPr/>
        </p:nvSpPr>
        <p:spPr>
          <a:xfrm>
            <a:off x="5395275" y="4662150"/>
            <a:ext cx="29121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mes"/>
                <a:ea typeface="Times"/>
                <a:cs typeface="Times"/>
                <a:sym typeface="Times"/>
              </a:rPr>
              <a:t>Image 3 constructed with manipulated green channel, construction with corrected channel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2</a:t>
            </a:r>
            <a:endParaRPr/>
          </a:p>
        </p:txBody>
      </p:sp>
      <p:sp>
        <p:nvSpPr>
          <p:cNvPr id="177" name="Google Shape;177;p22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Reducing noise on depth maps using a bilateral filter and the associated RGB image - Challenges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Processing the RGB image in such a way that the program didn’t simply </a:t>
            </a:r>
            <a:r>
              <a:rPr lang="en"/>
              <a:t>return</a:t>
            </a:r>
            <a:r>
              <a:rPr lang="en"/>
              <a:t> it in varying shades of grayscale instead of the depth image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Ensuring that I </a:t>
            </a:r>
            <a:r>
              <a:rPr lang="en"/>
              <a:t>appropriately</a:t>
            </a:r>
            <a:r>
              <a:rPr lang="en"/>
              <a:t> applied the RGB kernels to the depth maps and not the other way around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2 Solutions</a:t>
            </a:r>
            <a:endParaRPr/>
          </a:p>
        </p:txBody>
      </p:sp>
      <p:sp>
        <p:nvSpPr>
          <p:cNvPr id="183" name="Google Shape;183;p23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solution to the first issue is to run each channel in the RGB image through the bilateral filter and use that to </a:t>
            </a:r>
            <a:r>
              <a:rPr lang="en"/>
              <a:t>determine</a:t>
            </a:r>
            <a:r>
              <a:rPr lang="en"/>
              <a:t> the kernel range for the depth maps</a:t>
            </a:r>
            <a:endParaRPr/>
          </a:p>
        </p:txBody>
      </p:sp>
      <p:sp>
        <p:nvSpPr>
          <p:cNvPr id="184" name="Google Shape;184;p23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solution for the second issue is to simply switch the RGD images and depth maps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2 Results</a:t>
            </a:r>
            <a:endParaRPr/>
          </a:p>
        </p:txBody>
      </p:sp>
      <p:pic>
        <p:nvPicPr>
          <p:cNvPr id="190" name="Google Shape;190;p24" title="apple_1_1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800" y="1417900"/>
            <a:ext cx="2152226" cy="161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4" title="apple_1_1_1_dept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3187" y="1391688"/>
            <a:ext cx="2222125" cy="166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4" title="result_apple_1_1_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2475" y="1365475"/>
            <a:ext cx="2222125" cy="166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4" title="food_bag_8_1_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3800" y="3259143"/>
            <a:ext cx="2152226" cy="1614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4" title="food_bag_8_1_1_depth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09275" y="3259156"/>
            <a:ext cx="2269901" cy="1702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 title="result_food_bag_8_1_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22425" y="3272926"/>
            <a:ext cx="2222125" cy="166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